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</p:sldMasterIdLst>
  <p:sldIdLst>
    <p:sldId id="256" r:id="rId2"/>
    <p:sldId id="272" r:id="rId3"/>
    <p:sldId id="258" r:id="rId4"/>
    <p:sldId id="264" r:id="rId5"/>
    <p:sldId id="257" r:id="rId6"/>
    <p:sldId id="259" r:id="rId7"/>
    <p:sldId id="260" r:id="rId8"/>
    <p:sldId id="261" r:id="rId9"/>
    <p:sldId id="262" r:id="rId10"/>
    <p:sldId id="263" r:id="rId11"/>
    <p:sldId id="266" r:id="rId12"/>
    <p:sldId id="267" r:id="rId13"/>
    <p:sldId id="268" r:id="rId14"/>
    <p:sldId id="271" r:id="rId15"/>
    <p:sldId id="265" r:id="rId16"/>
    <p:sldId id="269" r:id="rId17"/>
    <p:sldId id="270" r:id="rId18"/>
    <p:sldId id="288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  <p:sldId id="283" r:id="rId30"/>
    <p:sldId id="285" r:id="rId31"/>
    <p:sldId id="286" r:id="rId32"/>
    <p:sldId id="289" r:id="rId33"/>
    <p:sldId id="290" r:id="rId34"/>
    <p:sldId id="287" r:id="rId35"/>
    <p:sldId id="292" r:id="rId36"/>
    <p:sldId id="293" r:id="rId37"/>
    <p:sldId id="294" r:id="rId38"/>
    <p:sldId id="295" r:id="rId39"/>
    <p:sldId id="297" r:id="rId40"/>
    <p:sldId id="298" r:id="rId41"/>
    <p:sldId id="299" r:id="rId42"/>
    <p:sldId id="326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27" r:id="rId54"/>
    <p:sldId id="311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8" r:id="rId65"/>
    <p:sldId id="322" r:id="rId66"/>
    <p:sldId id="323" r:id="rId67"/>
    <p:sldId id="324" r:id="rId68"/>
    <p:sldId id="325" r:id="rId69"/>
    <p:sldId id="329" r:id="rId70"/>
    <p:sldId id="330" r:id="rId71"/>
    <p:sldId id="331" r:id="rId72"/>
    <p:sldId id="332" r:id="rId73"/>
    <p:sldId id="333" r:id="rId7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小乐 吴" initials="小乐" lastIdx="1" clrIdx="0">
    <p:extLst>
      <p:ext uri="{19B8F6BF-5375-455C-9EA6-DF929625EA0E}">
        <p15:presenceInfo xmlns:p15="http://schemas.microsoft.com/office/powerpoint/2012/main" userId="01c5b42ccbb69aa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44" d="100"/>
          <a:sy n="44" d="100"/>
        </p:scale>
        <p:origin x="64" y="10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128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010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557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722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659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203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38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756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252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544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995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407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9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8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FD2648B-7E6D-4B82-B193-04BC6A710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35" y="0"/>
            <a:ext cx="115571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27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7537DEA9-A67E-4EA9-BEEA-2C788D75B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9407"/>
            <a:ext cx="12192000" cy="473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214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1ADB4C6-BDAC-416B-A78A-7DED712597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5932" y="438004"/>
            <a:ext cx="4700136" cy="598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206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CDA6E66-2820-45E0-8BAC-CE5A718E743B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BC0DCC4-6CC7-40EE-BE59-1AF1D30EB816}"/>
              </a:ext>
            </a:extLst>
          </p:cNvPr>
          <p:cNvSpPr txBox="1"/>
          <p:nvPr/>
        </p:nvSpPr>
        <p:spPr>
          <a:xfrm>
            <a:off x="2167288" y="1997839"/>
            <a:ext cx="78574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3600">
                <a:solidFill>
                  <a:schemeClr val="accent6">
                    <a:lumMod val="75000"/>
                  </a:schemeClr>
                </a:solidFill>
              </a:rPr>
              <a:t>深度学习与机器学习的关系和差别？</a:t>
            </a:r>
            <a:endParaRPr lang="en-US" altLang="zh-CN" sz="360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3600">
                <a:solidFill>
                  <a:schemeClr val="accent6">
                    <a:lumMod val="75000"/>
                  </a:schemeClr>
                </a:solidFill>
              </a:rPr>
              <a:t>深度学习特点</a:t>
            </a:r>
            <a:endParaRPr lang="en-US" altLang="zh-CN" sz="360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3600">
                <a:solidFill>
                  <a:schemeClr val="accent6">
                    <a:lumMod val="75000"/>
                  </a:schemeClr>
                </a:solidFill>
              </a:rPr>
              <a:t>常见的深度学习模型</a:t>
            </a:r>
            <a:endParaRPr lang="en-US" altLang="zh-CN" sz="360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3600">
                <a:solidFill>
                  <a:schemeClr val="accent6">
                    <a:lumMod val="75000"/>
                  </a:schemeClr>
                </a:solidFill>
              </a:rPr>
              <a:t>深度学习的应用场景</a:t>
            </a:r>
            <a:endParaRPr lang="en-US" altLang="zh-CN" sz="360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sz="3600">
                <a:solidFill>
                  <a:schemeClr val="accent6">
                    <a:lumMod val="75000"/>
                  </a:schemeClr>
                </a:solidFill>
              </a:rPr>
              <a:t>PyTorch</a:t>
            </a:r>
            <a:r>
              <a:rPr lang="zh-CN" altLang="en-US" sz="3600">
                <a:solidFill>
                  <a:schemeClr val="accent6">
                    <a:lumMod val="75000"/>
                  </a:schemeClr>
                </a:solidFill>
              </a:rPr>
              <a:t>的介绍</a:t>
            </a:r>
          </a:p>
        </p:txBody>
      </p:sp>
    </p:spTree>
    <p:extLst>
      <p:ext uri="{BB962C8B-B14F-4D97-AF65-F5344CB8AC3E}">
        <p14:creationId xmlns:p14="http://schemas.microsoft.com/office/powerpoint/2010/main" val="806828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7283CD6-FE51-486E-B8F9-5FCBD19EFC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7"/>
          <a:stretch/>
        </p:blipFill>
        <p:spPr>
          <a:xfrm>
            <a:off x="376074" y="711200"/>
            <a:ext cx="11513268" cy="550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44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77D8B30-D330-4186-B5EC-247D6C63D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37" y="522514"/>
            <a:ext cx="11624862" cy="573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667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E3991C4-2654-4C73-8249-1824A648F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0643"/>
            <a:ext cx="9616464" cy="431931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2E561AC-E1B3-46A7-AFA3-A27ABC6BE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6464" y="2382902"/>
            <a:ext cx="2248214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646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3D190AC-9C1C-4CF9-AE2E-13E3039EA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9" y="1204915"/>
            <a:ext cx="7405586" cy="419369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C4E8004-D644-412D-AEE8-86B5E24A3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790556"/>
            <a:ext cx="6369064" cy="524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702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5973667-87EE-43A4-B618-6EF4F9E34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42" y="0"/>
            <a:ext cx="5950858" cy="372511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52C9BDC-DC94-4367-82CA-CC435FD83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840" y="0"/>
            <a:ext cx="6163018" cy="394788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D1DA2D5-996F-4899-B6F3-CE86297B9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42" y="4107542"/>
            <a:ext cx="6618515" cy="200932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BA296E2-3BF3-4848-88C2-B526CE0F5A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3840" y="5225991"/>
            <a:ext cx="4239217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72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202916D-35F7-4AD0-863B-D23F6731F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68223" cy="383571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FD4D9B3-7C73-4472-8179-E8A0F6E1A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136" y="3265715"/>
            <a:ext cx="7126864" cy="359228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E2B1FD9-6C05-417C-85DE-EAFB6E8D50E6}"/>
              </a:ext>
            </a:extLst>
          </p:cNvPr>
          <p:cNvSpPr txBox="1"/>
          <p:nvPr/>
        </p:nvSpPr>
        <p:spPr>
          <a:xfrm>
            <a:off x="7773766" y="3244334"/>
            <a:ext cx="3612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人工智能 </a:t>
            </a:r>
            <a:r>
              <a:rPr lang="en-US" altLang="zh-CN"/>
              <a:t>= </a:t>
            </a:r>
            <a:r>
              <a:rPr lang="zh-CN" altLang="en-US"/>
              <a:t>数据</a:t>
            </a:r>
            <a:r>
              <a:rPr lang="en-US" altLang="zh-CN"/>
              <a:t>+</a:t>
            </a:r>
            <a:r>
              <a:rPr lang="zh-CN" altLang="en-US"/>
              <a:t>算法</a:t>
            </a:r>
            <a:r>
              <a:rPr lang="en-US" altLang="zh-CN"/>
              <a:t>+</a:t>
            </a:r>
            <a:r>
              <a:rPr lang="zh-CN" altLang="en-US"/>
              <a:t>算力</a:t>
            </a:r>
          </a:p>
        </p:txBody>
      </p:sp>
    </p:spTree>
    <p:extLst>
      <p:ext uri="{BB962C8B-B14F-4D97-AF65-F5344CB8AC3E}">
        <p14:creationId xmlns:p14="http://schemas.microsoft.com/office/powerpoint/2010/main" val="1444170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0C8CF8B-79A1-4AEE-B917-78B7AE9FB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666" y="737229"/>
            <a:ext cx="8764667" cy="538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92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7B4F47E-6A78-4555-9EEF-3D4963D1D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99" y="924365"/>
            <a:ext cx="6568883" cy="500926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CD11CC5-114A-494F-BFF8-1F22D607B83F}"/>
              </a:ext>
            </a:extLst>
          </p:cNvPr>
          <p:cNvSpPr txBox="1"/>
          <p:nvPr/>
        </p:nvSpPr>
        <p:spPr>
          <a:xfrm>
            <a:off x="7213600" y="2438399"/>
            <a:ext cx="413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+ BP </a:t>
            </a:r>
            <a:r>
              <a:rPr lang="zh-CN" altLang="en-US"/>
              <a:t>不断调整权重达到更好的拟合情况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1887DC3-FD52-46B9-88F9-AD1852B12712}"/>
              </a:ext>
            </a:extLst>
          </p:cNvPr>
          <p:cNvSpPr txBox="1"/>
          <p:nvPr/>
        </p:nvSpPr>
        <p:spPr>
          <a:xfrm>
            <a:off x="2850296" y="3472541"/>
            <a:ext cx="4557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TensorFlow </a:t>
            </a:r>
            <a:r>
              <a:rPr lang="zh-CN" altLang="en-US"/>
              <a:t>静态，中途不能调整</a:t>
            </a:r>
          </a:p>
        </p:txBody>
      </p:sp>
    </p:spTree>
    <p:extLst>
      <p:ext uri="{BB962C8B-B14F-4D97-AF65-F5344CB8AC3E}">
        <p14:creationId xmlns:p14="http://schemas.microsoft.com/office/powerpoint/2010/main" val="1086639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61CA099-E4FB-48C3-B790-326D1FA86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931" y="214085"/>
            <a:ext cx="10170138" cy="642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204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CDA6E66-2820-45E0-8BAC-CE5A718E743B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BC0DCC4-6CC7-40EE-BE59-1AF1D30EB816}"/>
              </a:ext>
            </a:extLst>
          </p:cNvPr>
          <p:cNvSpPr txBox="1"/>
          <p:nvPr/>
        </p:nvSpPr>
        <p:spPr>
          <a:xfrm>
            <a:off x="2167288" y="1997839"/>
            <a:ext cx="78574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3600">
                <a:solidFill>
                  <a:schemeClr val="accent6">
                    <a:lumMod val="75000"/>
                  </a:schemeClr>
                </a:solidFill>
              </a:rPr>
              <a:t>张量基础</a:t>
            </a:r>
            <a:endParaRPr lang="en-US" altLang="zh-CN" sz="360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3600">
                <a:solidFill>
                  <a:schemeClr val="accent6">
                    <a:lumMod val="75000"/>
                  </a:schemeClr>
                </a:solidFill>
              </a:rPr>
              <a:t>自动微分</a:t>
            </a:r>
          </a:p>
        </p:txBody>
      </p:sp>
    </p:spTree>
    <p:extLst>
      <p:ext uri="{BB962C8B-B14F-4D97-AF65-F5344CB8AC3E}">
        <p14:creationId xmlns:p14="http://schemas.microsoft.com/office/powerpoint/2010/main" val="13865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FD3F35A-49BB-4090-BA3D-BDF60C1A1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440" y="1066470"/>
            <a:ext cx="9993120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84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026AFDB-2C98-4CEC-AC56-A223F8617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47" y="885125"/>
            <a:ext cx="11897505" cy="508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043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427AC31-ADB9-4A4F-88F3-FA74F2E3D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37" y="504789"/>
            <a:ext cx="11512726" cy="584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522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CDA6E66-2820-45E0-8BAC-CE5A718E743B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BC0DCC4-6CC7-40EE-BE59-1AF1D30EB816}"/>
              </a:ext>
            </a:extLst>
          </p:cNvPr>
          <p:cNvSpPr txBox="1"/>
          <p:nvPr/>
        </p:nvSpPr>
        <p:spPr>
          <a:xfrm>
            <a:off x="2167288" y="1997839"/>
            <a:ext cx="78574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3600">
                <a:solidFill>
                  <a:schemeClr val="accent6">
                    <a:lumMod val="75000"/>
                  </a:schemeClr>
                </a:solidFill>
              </a:rPr>
              <a:t>神经网络概念</a:t>
            </a:r>
            <a:endParaRPr lang="en-US" altLang="zh-CN" sz="360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3600">
                <a:solidFill>
                  <a:schemeClr val="accent6">
                    <a:lumMod val="75000"/>
                  </a:schemeClr>
                </a:solidFill>
              </a:rPr>
              <a:t>激活函数</a:t>
            </a:r>
            <a:endParaRPr lang="en-US" altLang="zh-CN" sz="360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3600">
                <a:solidFill>
                  <a:schemeClr val="accent6">
                    <a:lumMod val="75000"/>
                  </a:schemeClr>
                </a:solidFill>
              </a:rPr>
              <a:t>参数初始化</a:t>
            </a:r>
            <a:endParaRPr lang="en-US" altLang="zh-CN" sz="360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3600">
                <a:solidFill>
                  <a:schemeClr val="accent6">
                    <a:lumMod val="75000"/>
                  </a:schemeClr>
                </a:solidFill>
              </a:rPr>
              <a:t>梯度下降优化</a:t>
            </a:r>
            <a:endParaRPr lang="en-US" altLang="zh-CN" sz="360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3600">
                <a:solidFill>
                  <a:schemeClr val="accent6">
                    <a:lumMod val="75000"/>
                  </a:schemeClr>
                </a:solidFill>
              </a:rPr>
              <a:t>学习率优化</a:t>
            </a:r>
          </a:p>
        </p:txBody>
      </p:sp>
    </p:spTree>
    <p:extLst>
      <p:ext uri="{BB962C8B-B14F-4D97-AF65-F5344CB8AC3E}">
        <p14:creationId xmlns:p14="http://schemas.microsoft.com/office/powerpoint/2010/main" val="3021127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F95FE49-B06F-4E16-B545-66B3696BD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15" y="468086"/>
            <a:ext cx="11511370" cy="592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358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A64332C-67D4-4288-BD85-8DB6B4079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2675"/>
            <a:ext cx="12192000" cy="587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901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C1880BE-3D9C-4E0B-9A56-B1F983239115}"/>
              </a:ext>
            </a:extLst>
          </p:cNvPr>
          <p:cNvSpPr txBox="1"/>
          <p:nvPr/>
        </p:nvSpPr>
        <p:spPr>
          <a:xfrm>
            <a:off x="3657600" y="6168571"/>
            <a:ext cx="487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加权求和和激活函数实际上在同一个神经元里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FF4741D-87E2-45FC-B540-CF9534D2C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718" y="320097"/>
            <a:ext cx="10817753" cy="552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876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CCFA567-7A85-4B52-950A-435FCA516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098" y="885470"/>
            <a:ext cx="9697803" cy="50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309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A597FAB-CB4B-4920-B201-1864BEB11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782" y="875943"/>
            <a:ext cx="9564435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416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4659312-A27D-44B4-8FD5-B0108491A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701" y="727424"/>
            <a:ext cx="7786597" cy="540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7010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C67B252-F923-499D-9CC7-C56BF6F05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31" y="290286"/>
            <a:ext cx="11498537" cy="598524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B7A126E-24FD-4AC9-A75F-FDC583E50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99" y="4923372"/>
            <a:ext cx="2501593" cy="69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8675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45BAF88-4E39-4181-A401-9C59D9654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14" y="2575"/>
            <a:ext cx="11003772" cy="685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4783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45F919A-C104-4317-9D64-8E86513E7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15" y="304800"/>
            <a:ext cx="11561381" cy="625565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136C005-538D-442E-ADE4-11661B7CB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4800"/>
            <a:ext cx="2470999" cy="137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7689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99C1111-B376-4D95-9922-A42AC936E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714" y="46074"/>
            <a:ext cx="8186056" cy="6811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186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B1C13D5-09E9-4917-ACB3-46CFC0099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29" y="1104575"/>
            <a:ext cx="10145541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545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BAE84D3-0294-4009-805B-98D5BB44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03" y="931141"/>
            <a:ext cx="10886993" cy="499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3880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EA15373-142B-4391-A4F2-8C9DF8E54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981473" cy="318612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B00E7CF-EC75-4A3E-976F-745534495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86120"/>
            <a:ext cx="8800088" cy="367188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E20FB0A-4223-4DC5-A1F6-B8BCAA647737}"/>
              </a:ext>
            </a:extLst>
          </p:cNvPr>
          <p:cNvSpPr txBox="1"/>
          <p:nvPr/>
        </p:nvSpPr>
        <p:spPr>
          <a:xfrm>
            <a:off x="8223888" y="2699968"/>
            <a:ext cx="3686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/>
              <a:t>fan_in </a:t>
            </a:r>
            <a:r>
              <a:rPr lang="zh-CN" altLang="en-US"/>
              <a:t>指的是“当前这一层每个神经元接收到的输入数”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0B7B7D7-CBB9-4647-80BE-6FA6DCF7E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0736" y="1860922"/>
            <a:ext cx="3477110" cy="116221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2F950C5-E99E-4FDA-9ECE-9B73B9DB7F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282" y="5426821"/>
            <a:ext cx="3719236" cy="64633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AD0A3B4-F5DB-46AE-BD76-8D9C8EDBA5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282" y="3673730"/>
            <a:ext cx="3983878" cy="102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1122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19B48FF-DEA5-4927-BD2C-095598095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86" y="720481"/>
            <a:ext cx="10875427" cy="541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8620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81DAD15-4EF1-4B94-9454-690F52CCE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994" y="790206"/>
            <a:ext cx="8688012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3362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EDCEAF1-3438-4B76-ACBF-1CE41DA2B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69" y="0"/>
            <a:ext cx="10844937" cy="590731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6BCB602-50B4-426B-8315-6DC3DC3AC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4746" y="4098189"/>
            <a:ext cx="3507254" cy="209941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D7C6E8D-2ED3-4C36-814E-DD0747D95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69" y="2503287"/>
            <a:ext cx="9104960" cy="401846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6065DD0-7546-4BBF-8171-1CED23A9B4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3532" y="4059162"/>
            <a:ext cx="6375863" cy="213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3769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481D603-5F09-40B5-AEC7-ECE59AFED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90" y="376060"/>
            <a:ext cx="10956020" cy="610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1857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1E1B10B-0F8C-479E-AD88-939B65AFF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98" y="706272"/>
            <a:ext cx="11645403" cy="544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9862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BCE69C8-A4C3-4D52-B686-F78F36507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934" y="396483"/>
            <a:ext cx="8238131" cy="606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378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DE7C7C4-5AF3-42C2-A29B-2643C5811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63" y="545469"/>
            <a:ext cx="11252274" cy="576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4460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12F0D36-2DD2-4486-AEE8-3C8DB9055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68" y="652073"/>
            <a:ext cx="12012864" cy="555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1112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83FAC1F-36DE-41E0-8C9C-E134A8121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87" y="1228418"/>
            <a:ext cx="10212225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6744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E30084C-2989-45CF-8A0D-27C958827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598" y="1337970"/>
            <a:ext cx="9878804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8653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CDA6E66-2820-45E0-8BAC-CE5A718E743B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BC0DCC4-6CC7-40EE-BE59-1AF1D30EB816}"/>
              </a:ext>
            </a:extLst>
          </p:cNvPr>
          <p:cNvSpPr txBox="1"/>
          <p:nvPr/>
        </p:nvSpPr>
        <p:spPr>
          <a:xfrm>
            <a:off x="2167288" y="1997839"/>
            <a:ext cx="78574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3600">
                <a:solidFill>
                  <a:schemeClr val="accent6">
                    <a:lumMod val="75000"/>
                  </a:schemeClr>
                </a:solidFill>
              </a:rPr>
              <a:t>正则化</a:t>
            </a:r>
            <a:endParaRPr lang="en-US" altLang="zh-CN" sz="360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3600">
                <a:solidFill>
                  <a:schemeClr val="accent6">
                    <a:lumMod val="75000"/>
                  </a:schemeClr>
                </a:solidFill>
              </a:rPr>
              <a:t>批量归一化</a:t>
            </a:r>
            <a:endParaRPr lang="en-US" altLang="zh-CN" sz="360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3600">
                <a:solidFill>
                  <a:schemeClr val="accent6">
                    <a:lumMod val="75000"/>
                  </a:schemeClr>
                </a:solidFill>
              </a:rPr>
              <a:t>构建神经网络</a:t>
            </a:r>
            <a:endParaRPr lang="en-US" altLang="zh-CN" sz="360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6028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6923EF9-CA4A-4910-BB5E-170BC9CCC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993" y="1395128"/>
            <a:ext cx="9412013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7279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135DB2B-8393-4E0D-8324-BED6328E9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22" y="733614"/>
            <a:ext cx="11733555" cy="539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9823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09249BA-4460-428B-98C7-A89BF28B0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690" y="101600"/>
            <a:ext cx="10166620" cy="675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2690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33C6F1C-828A-4B99-92C3-32C89D448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81" y="440353"/>
            <a:ext cx="10714438" cy="5977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6435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8EE6A65-AA7E-4E1C-A1C8-5A462A2F4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5" y="551554"/>
            <a:ext cx="12184625" cy="575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8162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59F0772-140C-4B2D-ACF3-2953FDF1C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33" y="188686"/>
            <a:ext cx="11754582" cy="651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5166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96B434A-2998-4EA1-B222-2F7D62850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888" y="1199839"/>
            <a:ext cx="9488224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9076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8F8FD1F-0CC4-436A-A7C6-2C13D51E2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151" y="1219527"/>
            <a:ext cx="10535698" cy="441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739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049308-C91A-427C-A498-9D61AB510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493" y="842601"/>
            <a:ext cx="9593014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759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56F46BB-73F1-4B62-B6B7-FC48738EB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85" y="0"/>
            <a:ext cx="10538244" cy="691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8109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CDA6E66-2820-45E0-8BAC-CE5A718E743B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BC0DCC4-6CC7-40EE-BE59-1AF1D30EB816}"/>
              </a:ext>
            </a:extLst>
          </p:cNvPr>
          <p:cNvSpPr txBox="1"/>
          <p:nvPr/>
        </p:nvSpPr>
        <p:spPr>
          <a:xfrm>
            <a:off x="2155098" y="2828835"/>
            <a:ext cx="78818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>
                <a:solidFill>
                  <a:schemeClr val="accent6">
                    <a:lumMod val="75000"/>
                  </a:schemeClr>
                </a:solidFill>
              </a:rPr>
              <a:t>CNN</a:t>
            </a:r>
          </a:p>
        </p:txBody>
      </p:sp>
    </p:spTree>
    <p:extLst>
      <p:ext uri="{BB962C8B-B14F-4D97-AF65-F5344CB8AC3E}">
        <p14:creationId xmlns:p14="http://schemas.microsoft.com/office/powerpoint/2010/main" val="39502490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3E7FDF8-FDCA-4490-9F6C-11864B44A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084" y="0"/>
            <a:ext cx="75558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5440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C1657D2-46F8-41CD-8BD4-F6C13E8A1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23" y="0"/>
            <a:ext cx="9288171" cy="246731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B29278D-CAF9-44FD-889E-87C449F0B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23" y="2447309"/>
            <a:ext cx="10040751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7791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AA17149-49EC-4150-844E-898D8EA53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72" y="330045"/>
            <a:ext cx="11313855" cy="619790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4834E09-E7AA-4067-8DAE-348CCEB69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528" y="804612"/>
            <a:ext cx="7539042" cy="50167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CD05324-7FBF-4C13-B6A7-658A7DE20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2725" y="4136571"/>
            <a:ext cx="1851109" cy="219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518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4118C6C-9BE0-4E60-AC6B-EB218FEFE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92" y="522515"/>
            <a:ext cx="11118397" cy="576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700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FBEB6FA-C760-4A40-9588-86806D98E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167" y="0"/>
            <a:ext cx="95156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8949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93A046D-1F37-4DF7-AD9F-C66DAA170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285"/>
            <a:ext cx="12185653" cy="624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679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E83A4C1-CB94-4E7D-8A65-E42E5DCBF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52343" cy="343137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6542730-F6E5-4F58-85C8-36772A046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58976"/>
            <a:ext cx="7933282" cy="327405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7964834-30FB-4689-B14A-33580873B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993" y="698401"/>
            <a:ext cx="5068007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4666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BB83B97-7BE1-4A81-8E22-63BEAAE55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34" y="745314"/>
            <a:ext cx="7831979" cy="588771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D03A44F-F851-45E9-8A89-4D44C9A4B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934" y="502677"/>
            <a:ext cx="1001279" cy="152575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5D2069C-CD13-4311-B2BB-2E41D1C2F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832" y="896867"/>
            <a:ext cx="3576086" cy="129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589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BD6730C-A774-4B2F-A44D-6F3E0367D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3" y="101600"/>
            <a:ext cx="12115227" cy="669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763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E2FEE6BB-5FC8-4CE2-93A9-E8ABBEBDFF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995630F-121F-415A-ADC7-FDCCB9F19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2113" y="514733"/>
            <a:ext cx="232229" cy="122647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8D20FF6D-94AB-46BC-9DF4-B21A7CC63E7D}"/>
              </a:ext>
            </a:extLst>
          </p:cNvPr>
          <p:cNvSpPr txBox="1"/>
          <p:nvPr/>
        </p:nvSpPr>
        <p:spPr>
          <a:xfrm>
            <a:off x="8098735" y="6488668"/>
            <a:ext cx="1949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>
                <a:solidFill>
                  <a:srgbClr val="FF0000"/>
                </a:solidFill>
              </a:rPr>
              <a:t>16</a:t>
            </a:r>
            <a:r>
              <a:rPr lang="zh-CN" altLang="en-US" sz="1100">
                <a:solidFill>
                  <a:srgbClr val="FF0000"/>
                </a:solidFill>
              </a:rPr>
              <a:t>个通道 </a:t>
            </a:r>
            <a:r>
              <a:rPr lang="en-US" altLang="zh-CN" sz="1100">
                <a:solidFill>
                  <a:srgbClr val="FF0000"/>
                </a:solidFill>
              </a:rPr>
              <a:t>6x6</a:t>
            </a:r>
            <a:r>
              <a:rPr lang="zh-CN" altLang="en-US" sz="1100">
                <a:solidFill>
                  <a:srgbClr val="FF0000"/>
                </a:solidFill>
              </a:rPr>
              <a:t>特征图 </a:t>
            </a:r>
            <a:r>
              <a:rPr lang="en-US" altLang="zh-CN" sz="1100">
                <a:solidFill>
                  <a:srgbClr val="FF0000"/>
                </a:solidFill>
              </a:rPr>
              <a:t>-&gt; 576*1</a:t>
            </a:r>
            <a:endParaRPr lang="zh-CN" altLang="en-US" sz="11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3210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CDA6E66-2820-45E0-8BAC-CE5A718E743B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BC0DCC4-6CC7-40EE-BE59-1AF1D30EB816}"/>
              </a:ext>
            </a:extLst>
          </p:cNvPr>
          <p:cNvSpPr txBox="1"/>
          <p:nvPr/>
        </p:nvSpPr>
        <p:spPr>
          <a:xfrm>
            <a:off x="2155098" y="2828835"/>
            <a:ext cx="78818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>
                <a:solidFill>
                  <a:schemeClr val="accent6">
                    <a:lumMod val="75000"/>
                  </a:schemeClr>
                </a:solidFill>
              </a:rPr>
              <a:t>RNN</a:t>
            </a:r>
          </a:p>
        </p:txBody>
      </p:sp>
    </p:spTree>
    <p:extLst>
      <p:ext uri="{BB962C8B-B14F-4D97-AF65-F5344CB8AC3E}">
        <p14:creationId xmlns:p14="http://schemas.microsoft.com/office/powerpoint/2010/main" val="29163581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D91848C-B948-47EB-8216-3DEDE52BA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0" y="625171"/>
            <a:ext cx="12032080" cy="560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2226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8B868D5-6AE7-4BD0-865F-540C33BC1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11" y="669231"/>
            <a:ext cx="11922778" cy="551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94258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6BEC4A9-014E-448A-B79E-A7D0EED2D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66" y="14512"/>
            <a:ext cx="10938667" cy="629920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DEFF7E2-48EB-4463-9A5F-CBA719D4EE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965" t="81005" r="4273" b="1930"/>
          <a:stretch/>
        </p:blipFill>
        <p:spPr>
          <a:xfrm>
            <a:off x="5397139" y="5288373"/>
            <a:ext cx="5635019" cy="11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0723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25189C2-16C7-4D2B-81FE-CD151A1D7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30" y="739389"/>
            <a:ext cx="11366140" cy="537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2135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6371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563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68949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426601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1475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7801</TotalTime>
  <Words>111</Words>
  <Application>Microsoft Office PowerPoint</Application>
  <PresentationFormat>宽屏</PresentationFormat>
  <Paragraphs>23</Paragraphs>
  <Slides>73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73</vt:i4>
      </vt:variant>
    </vt:vector>
  </HeadingPairs>
  <TitlesOfParts>
    <vt:vector size="77" baseType="lpstr">
      <vt:lpstr>Arial</vt:lpstr>
      <vt:lpstr>Calibri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wxl</dc:creator>
  <cp:lastModifiedBy>小乐 吴</cp:lastModifiedBy>
  <cp:revision>67</cp:revision>
  <dcterms:created xsi:type="dcterms:W3CDTF">2023-08-09T12:44:00Z</dcterms:created>
  <dcterms:modified xsi:type="dcterms:W3CDTF">2026-05-29T15:04:02Z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